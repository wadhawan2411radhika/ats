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  <p:sldId id="262" r:id="rId10"/>
    <p:sldId id="26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21"/>
  </p:normalViewPr>
  <p:slideViewPr>
    <p:cSldViewPr snapToGrid="0">
      <p:cViewPr varScale="1">
        <p:scale>
          <a:sx n="112" d="100"/>
          <a:sy n="112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C261-0644-5257-A0B1-30FC856C4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D96BAC-9229-579A-3EB0-0DDD67D4E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A8E6C-A4B4-2E56-D30F-EF5B540A6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999D7-19C4-4802-AB9A-4A13968A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1187-4662-4C17-1A3D-26A13F18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0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D9E3-62D8-C9CE-9BC2-FC8E4ABF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FA207-A7A6-2996-7318-F59887EBC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D20EF-A944-87F7-F1BA-27B59CA6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965CC-A0C9-D872-B4EF-34EE0501C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B0DC9-A88C-8171-E6ED-BA540BAA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4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5BD8-E0CD-1476-C2F8-0BB5CAC7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81F6B-8AF0-9C62-F4D2-4DE301033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2CF2B-DBF5-F38B-12AD-07A6B7281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9BBB3-B627-931B-D2DB-2ED666457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7F1A0-FEA7-6A65-A6FE-77EE0440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04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DEA85-2A3B-BA7D-09BC-279F60334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FF579-549E-2F86-9B0D-7C5BEBC1F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9E3DA-B4AD-70BF-3CEB-608DC5B80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3FC9E-F9ED-20D8-4FE6-D632C44A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C8CCA-580C-1093-4C94-EE3AED063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9CE3F-82AB-5E88-B6DC-EE282AF4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C136D-D458-9BDF-ABD7-4AFEA7CC6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83A6-3571-7C2E-C9DB-0809D367A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9B685-3884-B03D-DC46-ACF99480F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6ADB8C-104F-6BEA-95FD-F9AC9289B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B942B2-9951-0FEF-7953-F9ED012E6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27271-D5D7-478F-A4BA-937FAA03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D82D9F-A61D-41DE-4444-3FC5998DA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AE143B-B082-569C-DA95-FAE059B4C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89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BDE0-B60A-0A2F-A2D2-02EF9E24C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71AF1-A94E-EB7B-0D2C-9D35F855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FBA97-BA21-0A8E-659E-B92D9037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63FED-0C7D-EDF8-C65C-9347ED3CA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32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2EC558-4285-B14B-4469-99B406AA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580333-26D8-0888-FB63-48F8F361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A8FBA-8E4A-248D-DD38-AC24AE29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4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9832-43C4-AF59-F318-320CA992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0C2EB-F7AC-EA08-166E-D1D01E8DD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4269B-372B-4C55-857B-D5C864F9A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8E656-BA59-55AD-8883-F94F92DC2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5B548-4770-9E8A-3C30-3654B6886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D7ECA-A920-2A7F-15BE-3B3870FC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4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C7E3-49B4-C24B-2738-6C56AE5C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149F7C-71E9-FA5A-D4B0-76254D5854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B13EA-A340-174A-DCF3-EC968CFCE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3632E-2C4B-68A2-49B4-0D98B508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B6EC2-551E-BD66-CC18-C6ECE28C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5291E-FFC6-88A5-9F52-A1C31610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1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8DD8C-2064-327F-DEB2-7EE1B0F7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CF66D-1B61-CCE8-79F1-BBB7941E8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44798-B4C7-112B-93F9-97B57961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BCA46-09C3-12CF-6875-0CFB7628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2A66-13F8-D0C6-A1C6-476722F7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90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6CCA38-5C91-DCD5-5DB3-183B621F5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29273-F334-2A1B-DDCF-7747690F6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819A3-3A1B-0022-700A-3CE62986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CD203-A4F2-3DEE-F415-BEA2AC9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0FDDE-7EF4-7890-13CB-7EF28790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1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DF1C68-A6EB-9BFC-0521-A38BD323A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A6B67-46EB-5E54-62B2-948B9EDBE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93F6C-0D89-B5E8-0959-0EF611101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DD4C8-37BE-9E4A-8836-F44B52AA40B7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500A7-0570-E5B8-E453-8B2D80EBA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D8958-F0BB-1393-693B-14BD09FE6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68EF3-A8F0-7F47-8CBA-ED68C2DD1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1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351F-960E-8F9B-9376-C0EB278811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effectLst/>
                <a:latin typeface="Helvetica Neue" panose="02000503000000020004" pitchFamily="2" charset="0"/>
              </a:rPr>
              <a:t>AI-Powered Resume Matching Engine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42D0EB-6BEC-0DD5-1B54-6B52C5002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effectLst/>
                <a:latin typeface="Helvetica Neue" panose="02000503000000020004" pitchFamily="2" charset="0"/>
              </a:rPr>
              <a:t>Proof of Concept | Talent Acquisition Automation </a:t>
            </a:r>
          </a:p>
          <a:p>
            <a:r>
              <a:rPr lang="en-IN" i="1" dirty="0">
                <a:effectLst/>
                <a:latin typeface="Helvetica Neue" panose="02000503000000020004" pitchFamily="2" charset="0"/>
              </a:rPr>
              <a:t>Presented by: Radhika</a:t>
            </a:r>
            <a:endParaRPr lang="en-IN" dirty="0">
              <a:effectLst/>
              <a:latin typeface="Helvetica Neue" panose="02000503000000020004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2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0B59-6025-EFCC-D7DD-973064F30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625F7-D983-E729-A9A5-45690942B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effectLst/>
                <a:latin typeface="Helvetica Neue" panose="02000503000000020004" pitchFamily="2" charset="0"/>
              </a:rPr>
              <a:t>Manual resume screening is broken at scale</a:t>
            </a:r>
            <a:endParaRPr lang="en-IN" sz="2000" dirty="0">
              <a:effectLst/>
              <a:latin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IN" sz="2000" dirty="0">
                <a:effectLst/>
                <a:latin typeface="Helvetica Neue" panose="02000503000000020004" pitchFamily="2" charset="0"/>
              </a:rPr>
              <a:t>The current process: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Helvetica Neue" panose="02000503000000020004" pitchFamily="2" charset="0"/>
              </a:rPr>
              <a:t>A recruiter reads 50–200 resumes per role — averaging 6–7 seconds per resume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Helvetica Neue" panose="02000503000000020004" pitchFamily="2" charset="0"/>
              </a:rPr>
              <a:t>Screening quality is inconsistent: different recruiters weight skills differently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Helvetica Neue" panose="02000503000000020004" pitchFamily="2" charset="0"/>
              </a:rPr>
              <a:t>Qualified candidates get missed because their resume doesn't use exact keywords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Helvetica Neue" panose="02000503000000020004" pitchFamily="2" charset="0"/>
              </a:rPr>
              <a:t>No audit trail: why was this candidate rejected?</a:t>
            </a:r>
          </a:p>
          <a:p>
            <a:pPr marL="0" indent="0">
              <a:buNone/>
            </a:pPr>
            <a:endParaRPr lang="en-IN" sz="2000" b="1" dirty="0">
              <a:effectLst/>
              <a:latin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IN" sz="2000" b="1" dirty="0">
                <a:effectLst/>
                <a:latin typeface="Helvetica Neue" panose="02000503000000020004" pitchFamily="2" charset="0"/>
              </a:rPr>
              <a:t>The ask:</a:t>
            </a:r>
            <a:r>
              <a:rPr lang="en-IN" sz="2000" dirty="0">
                <a:effectLst/>
                <a:latin typeface="Helvetica Neue" panose="02000503000000020004" pitchFamily="2" charset="0"/>
              </a:rPr>
              <a:t> Build a system that scores and ranks resumes against a JD — automatically, consistently, and explainable.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2040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7B95-4872-35BF-B1ED-E97ADC78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Helvetica Neue" panose="02000503000000020004" pitchFamily="2" charset="0"/>
              </a:rPr>
              <a:t>Solution Overview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DBF3B3-6265-D355-8139-B1CA3EAE2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1839028"/>
            <a:ext cx="10338618" cy="40474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1692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AB86A-35AC-8B5C-E17E-FC48AD0D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 Extraction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F707D-8540-09F2-2CAF-B15298AC8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- role identity: </a:t>
            </a:r>
          </a:p>
          <a:p>
            <a:pPr marL="0" indent="0">
              <a:buNone/>
            </a:pPr>
            <a:r>
              <a:rPr lang="en-US" sz="2400" dirty="0"/>
              <a:t>	Title, seniority level, company type, employment type, Remote work policy</a:t>
            </a:r>
          </a:p>
          <a:p>
            <a:pPr marL="0" indent="0">
              <a:buNone/>
            </a:pPr>
            <a:r>
              <a:rPr lang="en-US" sz="2400" dirty="0"/>
              <a:t>- hard requirements:</a:t>
            </a:r>
          </a:p>
          <a:p>
            <a:pPr marL="0" indent="0">
              <a:buNone/>
            </a:pPr>
            <a:r>
              <a:rPr lang="en-US" sz="2400" dirty="0"/>
              <a:t>	Skills, Year of experience, Education, Certifications</a:t>
            </a:r>
          </a:p>
          <a:p>
            <a:pPr marL="0" indent="0">
              <a:buNone/>
            </a:pPr>
            <a:r>
              <a:rPr lang="en-US" sz="2400" dirty="0"/>
              <a:t>- soft requirements:</a:t>
            </a:r>
          </a:p>
          <a:p>
            <a:pPr marL="0" indent="0">
              <a:buNone/>
            </a:pPr>
            <a:r>
              <a:rPr lang="en-US" sz="2400" dirty="0"/>
              <a:t>	Skills, Domain experience, Education, Company Background</a:t>
            </a:r>
          </a:p>
          <a:p>
            <a:pPr marL="0" indent="0">
              <a:buNone/>
            </a:pPr>
            <a:r>
              <a:rPr lang="en-US" sz="2400" dirty="0"/>
              <a:t>- role character:</a:t>
            </a:r>
          </a:p>
          <a:p>
            <a:pPr marL="0" indent="0">
              <a:buNone/>
            </a:pPr>
            <a:r>
              <a:rPr lang="en-US" sz="2400" dirty="0"/>
              <a:t>	Ownership style: IC, Manager, Lead, Junior</a:t>
            </a:r>
          </a:p>
          <a:p>
            <a:pPr marL="0" indent="0">
              <a:buNone/>
            </a:pPr>
            <a:r>
              <a:rPr lang="en-US" sz="2400" dirty="0"/>
              <a:t>	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9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398E-F283-0F63-AA92-41A1F630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Resume Extraction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1264C-90F1-6F37-859D-8A02C6882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Role identity:</a:t>
            </a:r>
          </a:p>
          <a:p>
            <a:pPr marL="457200" lvl="1" indent="0">
              <a:buNone/>
            </a:pPr>
            <a:r>
              <a:rPr lang="en-US" dirty="0"/>
              <a:t>	Name, title, seniority, email</a:t>
            </a:r>
          </a:p>
          <a:p>
            <a:r>
              <a:rPr lang="en-US" dirty="0"/>
              <a:t>Education:</a:t>
            </a:r>
          </a:p>
          <a:p>
            <a:pPr marL="457200" lvl="1" indent="0">
              <a:buNone/>
            </a:pPr>
            <a:r>
              <a:rPr lang="en-US" dirty="0"/>
              <a:t>	Highest Degree, Highest Institute Tier, Certifications, Publications, OS Contributions</a:t>
            </a:r>
          </a:p>
          <a:p>
            <a:r>
              <a:rPr lang="en-US" dirty="0"/>
              <a:t>Explicit skills:</a:t>
            </a:r>
          </a:p>
          <a:p>
            <a:pPr marL="457200" lvl="1" indent="0">
              <a:buNone/>
            </a:pPr>
            <a:r>
              <a:rPr lang="en-US" dirty="0"/>
              <a:t>	Skills, </a:t>
            </a:r>
            <a:r>
              <a:rPr lang="en-US" dirty="0" err="1"/>
              <a:t>skill_depth_signal</a:t>
            </a:r>
            <a:endParaRPr lang="en-US" dirty="0"/>
          </a:p>
          <a:p>
            <a:r>
              <a:rPr lang="en-US" dirty="0"/>
              <a:t>Implicit skills:</a:t>
            </a:r>
          </a:p>
          <a:p>
            <a:pPr marL="457200" lvl="1" indent="0">
              <a:buNone/>
            </a:pPr>
            <a:r>
              <a:rPr lang="en-US" dirty="0"/>
              <a:t>	skills, </a:t>
            </a:r>
            <a:r>
              <a:rPr lang="en-US" dirty="0" err="1"/>
              <a:t>skill_depth_Signal</a:t>
            </a:r>
            <a:endParaRPr lang="en-US" dirty="0"/>
          </a:p>
          <a:p>
            <a:r>
              <a:rPr lang="en-US" dirty="0"/>
              <a:t>Work history:</a:t>
            </a:r>
          </a:p>
          <a:p>
            <a:pPr marL="457200" lvl="1" indent="0">
              <a:buNone/>
            </a:pPr>
            <a:r>
              <a:rPr lang="en-US" dirty="0"/>
              <a:t>	Years of experience, Highest Company tier, Leadership Experience, Domain exp</a:t>
            </a:r>
          </a:p>
        </p:txBody>
      </p:sp>
    </p:spTree>
    <p:extLst>
      <p:ext uri="{BB962C8B-B14F-4D97-AF65-F5344CB8AC3E}">
        <p14:creationId xmlns:p14="http://schemas.microsoft.com/office/powerpoint/2010/main" val="375616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E2FE-5571-9B99-C91C-F107B332C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5E6C4-6DB3-9640-7BEB-F4CC43436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Skill score -&gt; skill match</a:t>
            </a:r>
          </a:p>
          <a:p>
            <a:r>
              <a:rPr lang="en-US" dirty="0"/>
              <a:t>Experience score -&gt; [YOE alignment, Seniority level, Domain Experience]</a:t>
            </a:r>
          </a:p>
          <a:p>
            <a:r>
              <a:rPr lang="en-US" dirty="0"/>
              <a:t>Quality Score -&gt; [Depth score, bonus signals, penalty signals]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Final Score</a:t>
            </a:r>
          </a:p>
          <a:p>
            <a:r>
              <a:rPr lang="en-US" dirty="0"/>
              <a:t>Skill score weight = 0.55</a:t>
            </a:r>
          </a:p>
          <a:p>
            <a:r>
              <a:rPr lang="en-US" dirty="0"/>
              <a:t>Experience weight = 0.25</a:t>
            </a:r>
          </a:p>
          <a:p>
            <a:r>
              <a:rPr lang="en-US" dirty="0"/>
              <a:t>Quality Score weight = 0.20</a:t>
            </a:r>
          </a:p>
        </p:txBody>
      </p:sp>
    </p:spTree>
    <p:extLst>
      <p:ext uri="{BB962C8B-B14F-4D97-AF65-F5344CB8AC3E}">
        <p14:creationId xmlns:p14="http://schemas.microsoft.com/office/powerpoint/2010/main" val="176014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F393-33C7-D0D5-6DBB-C4E6EAC1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3699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65B931-C88A-63C0-4174-1E2CBDAA2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685" y="948824"/>
            <a:ext cx="5456315" cy="2553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C3C2A-BB18-4CD3-E8C3-C16CA5796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515" y="925965"/>
            <a:ext cx="5306745" cy="25765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130E9A-67D4-F14E-F039-4E21BB8C8AF7}"/>
              </a:ext>
            </a:extLst>
          </p:cNvPr>
          <p:cNvSpPr txBox="1"/>
          <p:nvPr/>
        </p:nvSpPr>
        <p:spPr>
          <a:xfrm>
            <a:off x="639685" y="3629027"/>
            <a:ext cx="1091263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400" b="1" dirty="0"/>
              <a:t>The gate works.</a:t>
            </a:r>
            <a:r>
              <a:rPr lang="en-IN" sz="1400" dirty="0"/>
              <a:t> 5 of 9 resumes never reach the scoring engine — frontend dev, consultant, PM, BA, backend SWE all correctly filtered before wasting a recruiter's time. The gate threshold of 40% required skill coverage is doing exactly what it should.</a:t>
            </a:r>
          </a:p>
          <a:p>
            <a:pPr algn="just"/>
            <a:endParaRPr lang="en-IN" sz="1400" dirty="0"/>
          </a:p>
          <a:p>
            <a:pPr algn="just"/>
            <a:r>
              <a:rPr lang="en-IN" sz="1400" b="1" dirty="0"/>
              <a:t>The top 2 tell an interesting story.</a:t>
            </a:r>
            <a:r>
              <a:rPr lang="en-IN" sz="1400" dirty="0"/>
              <a:t> Arjun Mehta (0.87, Lean Yes) is the clear hire — broad skills, proven production experience, publications. </a:t>
            </a:r>
            <a:r>
              <a:rPr lang="en-IN" sz="1400" dirty="0" err="1"/>
              <a:t>Dr.</a:t>
            </a:r>
            <a:r>
              <a:rPr lang="en-IN" sz="1400" dirty="0"/>
              <a:t> Priya Venkataraman (0.80, Maybe) scores nearly as high on skills and quality but is 2 seniority levels below for a Lead role with only 1 year of post-PhD experience. The system surfaces both — the recruiter makes the call.</a:t>
            </a:r>
          </a:p>
          <a:p>
            <a:pPr algn="just"/>
            <a:endParaRPr lang="en-IN" sz="1400" dirty="0"/>
          </a:p>
          <a:p>
            <a:pPr algn="just"/>
            <a:r>
              <a:rPr lang="en-IN" sz="1400" b="1" dirty="0"/>
              <a:t>Marcus Chen and Sneha </a:t>
            </a:r>
            <a:r>
              <a:rPr lang="en-IN" sz="1400" b="1" dirty="0" err="1"/>
              <a:t>Iyer</a:t>
            </a:r>
            <a:r>
              <a:rPr lang="en-IN" sz="1400" b="1" dirty="0"/>
              <a:t> are honest partials.</a:t>
            </a:r>
            <a:r>
              <a:rPr lang="en-IN" sz="1400" dirty="0"/>
              <a:t> Both score 0.64–0.65 because they're strong on data engineering and ML fundamentals but missing the NLP/LLM/retrieval depth the JD requires. The skill breakdown column makes this transparent — a recruiter can see </a:t>
            </a:r>
            <a:r>
              <a:rPr lang="en-IN" sz="1400" i="1" dirty="0"/>
              <a:t>exactly</a:t>
            </a:r>
            <a:r>
              <a:rPr lang="en-IN" sz="1400" dirty="0"/>
              <a:t> what's missing.</a:t>
            </a:r>
          </a:p>
          <a:p>
            <a:pPr algn="just"/>
            <a:endParaRPr lang="en-IN" sz="1400" dirty="0"/>
          </a:p>
          <a:p>
            <a:pPr algn="just"/>
            <a:r>
              <a:rPr lang="en-IN" sz="1400" b="1" dirty="0"/>
              <a:t>The quality score (tier 3 = 1.0 for all passers)</a:t>
            </a:r>
            <a:r>
              <a:rPr lang="en-IN" sz="1400" dirty="0"/>
              <a:t> is worth explaining — it reflects mastery depth signals and bonus credentials. All four passing candidates had strong depth signals; the differentiation is entirely on skill coverage and experience, which is the right outcome for this JD.</a:t>
            </a:r>
          </a:p>
        </p:txBody>
      </p:sp>
    </p:spTree>
    <p:extLst>
      <p:ext uri="{BB962C8B-B14F-4D97-AF65-F5344CB8AC3E}">
        <p14:creationId xmlns:p14="http://schemas.microsoft.com/office/powerpoint/2010/main" val="427816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F289-F586-41A4-AE83-847EDE50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Trade Offs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D261CE-021F-742B-5C3D-EE7CCF555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6210073"/>
              </p:ext>
            </p:extLst>
          </p:nvPr>
        </p:nvGraphicFramePr>
        <p:xfrm>
          <a:off x="838200" y="1825625"/>
          <a:ext cx="10515600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1020324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079417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849897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99794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Decision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 we chose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 we rejected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17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Skill matching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 binary match + reasoning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Embedding cosine similarity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 is difficult to set threshold using cosine similarity to identify strong vs weak match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503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Extraction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Deterministic sequential calls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ReAct</a:t>
                      </a:r>
                      <a:r>
                        <a:rPr lang="en-IN" dirty="0"/>
                        <a:t> agent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Fixed call order = same cost, half the complexity, fully </a:t>
                      </a:r>
                      <a:r>
                        <a:rPr lang="en-IN" dirty="0" err="1"/>
                        <a:t>debuggable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872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Skill separation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Explicit vs implicit split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Single skill 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Conflating them hides the difference between what a candidate claims and what they've demonstrated. Avoids Hallucination as well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664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670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635E-F246-6873-6D29-CA83C95F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14082-53CC-2F60-9D69-F5104ECAE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🧩 Skill Synonym Problem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Problem: NLP ≠ Natural Language Processing for exact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Solution: LLM matcher with explicit synonym rules + one-sentence reasoning per decision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Result: Every match decision is auditable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🤖 Buzzword Stuffing (Adversarial)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Problem: Keyword-rich resume with no real evidence scores perfectly on TF-IDF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Solution: Explicit ≠ Implicit. Penalty score reduce the overall score if resume is made up. Gate rejects &lt; 40% verified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Result: Less matched skill coverage → score 0.0 ✓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📊 LLM Hallucination</a:t>
            </a:r>
          </a:p>
          <a:p>
            <a:r>
              <a:rPr lang="en-IN" dirty="0"/>
              <a:t>Problem: If LLM is expected to extract all information in one go, it starts to hallucinate</a:t>
            </a:r>
          </a:p>
          <a:p>
            <a:r>
              <a:rPr lang="en-IN" dirty="0"/>
              <a:t>Solution: Built separate dedicated tools for each information extraction type</a:t>
            </a:r>
          </a:p>
          <a:p>
            <a:r>
              <a:rPr lang="en-IN" dirty="0"/>
              <a:t>Result: More deterministic and reliable outputs</a:t>
            </a:r>
          </a:p>
        </p:txBody>
      </p:sp>
    </p:spTree>
    <p:extLst>
      <p:ext uri="{BB962C8B-B14F-4D97-AF65-F5344CB8AC3E}">
        <p14:creationId xmlns:p14="http://schemas.microsoft.com/office/powerpoint/2010/main" val="4189982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44B3-09D4-B46D-89A1-1FDAAAD0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3D23-C4C8-AB0A-5FB9-094453429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 Level Evaluation</a:t>
            </a:r>
          </a:p>
          <a:p>
            <a:pPr lvl="1"/>
            <a:r>
              <a:rPr lang="en-US" dirty="0"/>
              <a:t>JD Extraction Pipeline – Precision / Recall on extracted skills</a:t>
            </a:r>
          </a:p>
          <a:p>
            <a:pPr lvl="1"/>
            <a:r>
              <a:rPr lang="en-US" dirty="0"/>
              <a:t>Resume Extraction Pipeline – Precision / Recall on extracted skills</a:t>
            </a:r>
          </a:p>
          <a:p>
            <a:r>
              <a:rPr lang="en-US" dirty="0"/>
              <a:t>E2E evaluation</a:t>
            </a:r>
          </a:p>
          <a:p>
            <a:pPr lvl="1"/>
            <a:r>
              <a:rPr lang="en-US" dirty="0"/>
              <a:t>Did we rank </a:t>
            </a:r>
            <a:r>
              <a:rPr lang="en-US" dirty="0" err="1"/>
              <a:t>correctl</a:t>
            </a:r>
            <a:r>
              <a:rPr lang="en-US" dirty="0"/>
              <a:t>? </a:t>
            </a:r>
            <a:r>
              <a:rPr lang="en-IN" dirty="0"/>
              <a:t>nDCG@3, Spearman </a:t>
            </a:r>
            <a:r>
              <a:rPr lang="el-GR" dirty="0"/>
              <a:t>ρ</a:t>
            </a: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IN" sz="2000" b="1" dirty="0"/>
              <a:t>Eval reads from saved run artifacts</a:t>
            </a:r>
            <a:r>
              <a:rPr lang="en-IN" sz="2000" dirty="0"/>
              <a:t> — no re-running the pipeline, no extra API spend, fully reproducible </a:t>
            </a:r>
          </a:p>
          <a:p>
            <a:pPr marL="0" indent="0">
              <a:buNone/>
            </a:pPr>
            <a:r>
              <a:rPr lang="en-IN" sz="2000" b="1" dirty="0"/>
              <a:t>Skill matcher is LLM-free</a:t>
            </a:r>
            <a:r>
              <a:rPr lang="en-IN" sz="2000" dirty="0"/>
              <a:t> — normalization + alias lookup only; keeps evaluation independent of the system being evaluated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5551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3213-15B7-F35A-E9B1-4A616C2C5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AB314-B090-8DB6-A2C3-18ABDBBCE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Skill canonicalization for both JD and resume. Current scores are low. Current system is programmatic, using LLM As Judge can help here.</a:t>
            </a:r>
          </a:p>
          <a:p>
            <a:r>
              <a:rPr lang="en-US" dirty="0"/>
              <a:t>Gather feedback from the real users: Try to work through each component and look for evaluation metrics there. Re-calibrate score weights based on feedback received from the users.</a:t>
            </a:r>
            <a:endParaRPr lang="en-IN" dirty="0"/>
          </a:p>
          <a:p>
            <a:r>
              <a:rPr lang="en-IN" dirty="0"/>
              <a:t>Observability Integration: In order to track behaviour of each component. It help keeping check of drift and error </a:t>
            </a:r>
            <a:r>
              <a:rPr lang="en-IN" dirty="0" err="1"/>
              <a:t>alterts</a:t>
            </a:r>
            <a:endParaRPr lang="en-US" dirty="0"/>
          </a:p>
          <a:p>
            <a:r>
              <a:rPr lang="en-IN" dirty="0"/>
              <a:t>Make the system event driven: As soon as the JD is received, JD extraction pipeline is triggered and outputs saved. Same with resume extraction pipeline avoiding batch processing and real time scoring</a:t>
            </a:r>
          </a:p>
        </p:txBody>
      </p:sp>
    </p:spTree>
    <p:extLst>
      <p:ext uri="{BB962C8B-B14F-4D97-AF65-F5344CB8AC3E}">
        <p14:creationId xmlns:p14="http://schemas.microsoft.com/office/powerpoint/2010/main" val="623425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911</Words>
  <Application>Microsoft Macintosh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Helvetica Neue</vt:lpstr>
      <vt:lpstr>Office Theme</vt:lpstr>
      <vt:lpstr>AI-Powered Resume Matching Engine</vt:lpstr>
      <vt:lpstr>Problem Statement</vt:lpstr>
      <vt:lpstr>Solution Overview</vt:lpstr>
      <vt:lpstr>JD Extraction Pipeline</vt:lpstr>
      <vt:lpstr>Resume Extraction Pipeline</vt:lpstr>
      <vt:lpstr>Alignment Score</vt:lpstr>
      <vt:lpstr>Results</vt:lpstr>
      <vt:lpstr>Design Trade Offs</vt:lpstr>
      <vt:lpstr>Challenges</vt:lpstr>
      <vt:lpstr>Evaluation Strategy</vt:lpstr>
      <vt:lpstr>Future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Resume Matching Engine</dc:title>
  <dc:creator>Microsoft Office User</dc:creator>
  <cp:lastModifiedBy>Microsoft Office User</cp:lastModifiedBy>
  <cp:revision>1</cp:revision>
  <dcterms:created xsi:type="dcterms:W3CDTF">2026-03-13T06:56:55Z</dcterms:created>
  <dcterms:modified xsi:type="dcterms:W3CDTF">2026-03-13T10:39:47Z</dcterms:modified>
</cp:coreProperties>
</file>